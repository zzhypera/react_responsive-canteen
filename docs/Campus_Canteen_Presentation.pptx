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online ordering system for the campus canteen.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4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rgbClr val="315F48"/>
          </a:solidFill>
          <a:ln w="12700">
            <a:solidFill>
              <a:srgbClr val="315F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3017520"/>
            <a:ext cx="2926080" cy="2926080"/>
          </a:xfrm>
          <a:prstGeom prst="ellipse">
            <a:avLst/>
          </a:prstGeom>
          <a:solidFill>
            <a:srgbClr val="C9783E"/>
          </a:solidFill>
          <a:ln w="12700">
            <a:solidFill>
              <a:srgbClr val="C9783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3E1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CAPSTONE PROJECT PROPOSAL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Canteen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Ordering System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3E1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Fundamentals with Laravel as Backend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233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Developer: Clarke David Murcia   |   October 09, 2026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Campus canteen manager and staff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4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are taken verbally or on paper during busy break and lunch periods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40480" cy="1325880"/>
          </a:xfrm>
          <a:prstGeom prst="roundRect">
            <a:avLst>
              <a:gd name="adj" fmla="val 8276"/>
            </a:avLst>
          </a:prstGeom>
          <a:solidFill>
            <a:srgbClr val="E5ECE6"/>
          </a:solidFill>
          <a:ln w="12700">
            <a:solidFill>
              <a:srgbClr val="E5E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384048" cy="384048"/>
          </a:xfrm>
          <a:prstGeom prst="ellipse">
            <a:avLst/>
          </a:prstGeom>
          <a:solidFill>
            <a:srgbClr val="C9783E"/>
          </a:solidFill>
          <a:ln w="12700">
            <a:solidFill>
              <a:srgbClr val="C978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37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4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queues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94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wait in line just to place an order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3840480" cy="1325880"/>
          </a:xfrm>
          <a:prstGeom prst="roundRect">
            <a:avLst>
              <a:gd name="adj" fmla="val 8276"/>
            </a:avLst>
          </a:prstGeom>
          <a:solidFill>
            <a:srgbClr val="E5ECE6"/>
          </a:solidFill>
          <a:ln w="12700">
            <a:solidFill>
              <a:srgbClr val="E5EC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783080"/>
            <a:ext cx="384048" cy="384048"/>
          </a:xfrm>
          <a:prstGeom prst="ellipse">
            <a:avLst/>
          </a:prstGeom>
          <a:solidFill>
            <a:srgbClr val="C9783E"/>
          </a:solidFill>
          <a:ln w="12700">
            <a:solidFill>
              <a:srgbClr val="C978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737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4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Unreadable orders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2194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or handwritten orders get mixed up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3840480" cy="1325880"/>
          </a:xfrm>
          <a:prstGeom prst="roundRect">
            <a:avLst>
              <a:gd name="adj" fmla="val 8276"/>
            </a:avLst>
          </a:prstGeom>
          <a:solidFill>
            <a:srgbClr val="E5ECE6"/>
          </a:solidFill>
          <a:ln w="12700">
            <a:solidFill>
              <a:srgbClr val="E5EC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337560"/>
            <a:ext cx="384048" cy="384048"/>
          </a:xfrm>
          <a:prstGeom prst="ellipse">
            <a:avLst/>
          </a:prstGeom>
          <a:solidFill>
            <a:srgbClr val="C9783E"/>
          </a:solidFill>
          <a:ln w="12700">
            <a:solidFill>
              <a:srgbClr val="C9783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4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Unknown availability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of the menu or sold-out items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3108960"/>
            <a:ext cx="3840480" cy="1325880"/>
          </a:xfrm>
          <a:prstGeom prst="roundRect">
            <a:avLst>
              <a:gd name="adj" fmla="val 8276"/>
            </a:avLst>
          </a:prstGeom>
          <a:solidFill>
            <a:srgbClr val="E5ECE6"/>
          </a:solidFill>
          <a:ln w="12700">
            <a:solidFill>
              <a:srgbClr val="E5EC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3337560"/>
            <a:ext cx="384048" cy="384048"/>
          </a:xfrm>
          <a:prstGeom prst="ellipse">
            <a:avLst/>
          </a:prstGeom>
          <a:solidFill>
            <a:srgbClr val="C9783E"/>
          </a:solidFill>
          <a:ln w="12700">
            <a:solidFill>
              <a:srgbClr val="C9783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4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sales totals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calculate daily sales by hand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4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Two User Roles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order ahead for a pickup slot; staff run the canteen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404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3383280" cy="502920"/>
          </a:xfrm>
          <a:prstGeom prst="roundRect">
            <a:avLst>
              <a:gd name="adj" fmla="val 18182"/>
            </a:avLst>
          </a:prstGeom>
          <a:solidFill>
            <a:srgbClr val="315F48"/>
          </a:solidFill>
          <a:ln w="12700">
            <a:solidFill>
              <a:srgbClr val="315F4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log in with a unique student ID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search and filter the menu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with a pickup slot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order history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only while Pending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38404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783080"/>
            <a:ext cx="3383280" cy="502920"/>
          </a:xfrm>
          <a:prstGeom prst="roundRect">
            <a:avLst>
              <a:gd name="adj" fmla="val 18182"/>
            </a:avLst>
          </a:prstGeom>
          <a:solidFill>
            <a:srgbClr val="244B38"/>
          </a:solidFill>
          <a:ln w="12700">
            <a:solidFill>
              <a:srgbClr val="244B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7830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/ Canteen Staff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46888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categories, menu items, pickup slots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manage all orders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order status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dashboard summaries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records when appropriate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4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tables linked with foreign keys and Eloquent relationships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2560320" cy="411480"/>
          </a:xfrm>
          <a:prstGeom prst="roundRect">
            <a:avLst>
              <a:gd name="adj" fmla="val 22222"/>
            </a:avLst>
          </a:prstGeom>
          <a:solidFill>
            <a:srgbClr val="315F48"/>
          </a:solidFill>
          <a:ln w="12700">
            <a:solidFill>
              <a:srgbClr val="315F4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id_number (unique), name, password, role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78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7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places many orders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508760"/>
            <a:ext cx="2560320" cy="411480"/>
          </a:xfrm>
          <a:prstGeom prst="roundRect">
            <a:avLst>
              <a:gd name="adj" fmla="val 22222"/>
            </a:avLst>
          </a:prstGeom>
          <a:solidFill>
            <a:srgbClr val="315F48"/>
          </a:solidFill>
          <a:ln w="12700">
            <a:solidFill>
              <a:srgbClr val="315F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508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965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578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7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category has many menu items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508760"/>
            <a:ext cx="2560320" cy="411480"/>
          </a:xfrm>
          <a:prstGeom prst="roundRect">
            <a:avLst>
              <a:gd name="adj" fmla="val 22222"/>
            </a:avLst>
          </a:prstGeom>
          <a:solidFill>
            <a:srgbClr val="315F48"/>
          </a:solidFill>
          <a:ln w="12700">
            <a:solidFill>
              <a:srgbClr val="315F4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1508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menu_items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1965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category_id, name, price, is_available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2578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7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 to a category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15468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154680"/>
            <a:ext cx="2560320" cy="411480"/>
          </a:xfrm>
          <a:prstGeom prst="roundRect">
            <a:avLst>
              <a:gd name="adj" fmla="val 22222"/>
            </a:avLst>
          </a:prstGeom>
          <a:solidFill>
            <a:srgbClr val="315F48"/>
          </a:solidFill>
          <a:ln w="12700">
            <a:solidFill>
              <a:srgbClr val="315F4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154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pickup_slots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611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slot_time, max_orders, is_open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224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7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limited by max_orders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315468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154680"/>
            <a:ext cx="2560320" cy="411480"/>
          </a:xfrm>
          <a:prstGeom prst="roundRect">
            <a:avLst>
              <a:gd name="adj" fmla="val 22222"/>
            </a:avLst>
          </a:prstGeom>
          <a:solidFill>
            <a:srgbClr val="315F48"/>
          </a:solidFill>
          <a:ln w="12700">
            <a:solidFill>
              <a:srgbClr val="315F4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29000" y="3154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611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user_id, pickup_slot_id, order_number, status, total_amount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4224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7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many order items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315468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3154680"/>
            <a:ext cx="2560320" cy="411480"/>
          </a:xfrm>
          <a:prstGeom prst="roundRect">
            <a:avLst>
              <a:gd name="adj" fmla="val 22222"/>
            </a:avLst>
          </a:prstGeom>
          <a:solidFill>
            <a:srgbClr val="315F48"/>
          </a:solidFill>
          <a:ln w="12700">
            <a:solidFill>
              <a:srgbClr val="315F4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72200" y="3154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3611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order_id, menu_item_id, quantity, unit_price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172200" y="4224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7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price at purchase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4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Planned Features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the required features of the mini capstone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E5ECE6"/>
          </a:solidFill>
          <a:ln w="12700">
            <a:solidFill>
              <a:srgbClr val="E5E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45336"/>
            <a:ext cx="384048" cy="384048"/>
          </a:xfrm>
          <a:prstGeom prst="ellipse">
            <a:avLst/>
          </a:prstGeom>
          <a:solidFill>
            <a:srgbClr val="315F48"/>
          </a:solidFill>
          <a:ln w="12700">
            <a:solidFill>
              <a:srgbClr val="315F4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5270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65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Sanctum tokens, Axios interceptor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E5ECE6"/>
          </a:solidFill>
          <a:ln w="12700">
            <a:solidFill>
              <a:srgbClr val="E5EC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545336"/>
            <a:ext cx="384048" cy="384048"/>
          </a:xfrm>
          <a:prstGeom prst="ellipse">
            <a:avLst/>
          </a:prstGeom>
          <a:solidFill>
            <a:srgbClr val="315F48"/>
          </a:solidFill>
          <a:ln w="12700">
            <a:solidFill>
              <a:srgbClr val="315F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15270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965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pages guarded in React and API (403)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E5ECE6"/>
          </a:solidFill>
          <a:ln w="12700">
            <a:solidFill>
              <a:srgbClr val="E5EC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545336"/>
            <a:ext cx="384048" cy="384048"/>
          </a:xfrm>
          <a:prstGeom prst="ellipse">
            <a:avLst/>
          </a:prstGeom>
          <a:solidFill>
            <a:srgbClr val="315F48"/>
          </a:solidFill>
          <a:ln w="12700">
            <a:solidFill>
              <a:srgbClr val="315F4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15270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CRUD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1965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items, categories, slots, orders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56032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E5ECE6"/>
          </a:solidFill>
          <a:ln w="12700">
            <a:solidFill>
              <a:srgbClr val="E5EC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2688336"/>
            <a:ext cx="384048" cy="384048"/>
          </a:xfrm>
          <a:prstGeom prst="ellipse">
            <a:avLst/>
          </a:prstGeom>
          <a:solidFill>
            <a:srgbClr val="315F48"/>
          </a:solidFill>
          <a:ln w="12700">
            <a:solidFill>
              <a:srgbClr val="315F4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26700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and filter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108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Keyword, category, availability, status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256032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E5ECE6"/>
          </a:solidFill>
          <a:ln w="12700">
            <a:solidFill>
              <a:srgbClr val="E5EC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2688336"/>
            <a:ext cx="384048" cy="384048"/>
          </a:xfrm>
          <a:prstGeom prst="ellipse">
            <a:avLst/>
          </a:prstGeom>
          <a:solidFill>
            <a:srgbClr val="315F48"/>
          </a:solidFill>
          <a:ln w="12700">
            <a:solidFill>
              <a:srgbClr val="315F4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2900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886200" y="26700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Pagination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3108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paginate() with page controls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256032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E5ECE6"/>
          </a:solidFill>
          <a:ln w="12700">
            <a:solidFill>
              <a:srgbClr val="E5EC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2688336"/>
            <a:ext cx="384048" cy="384048"/>
          </a:xfrm>
          <a:prstGeom prst="ellipse">
            <a:avLst/>
          </a:prstGeom>
          <a:solidFill>
            <a:srgbClr val="315F48"/>
          </a:solidFill>
          <a:ln w="12700">
            <a:solidFill>
              <a:srgbClr val="315F4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7220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629400" y="26700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172200" y="3108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sales, best seller, busiest slot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370332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E5ECE6"/>
          </a:solidFill>
          <a:ln w="12700">
            <a:solidFill>
              <a:srgbClr val="E5EC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3831336"/>
            <a:ext cx="384048" cy="384048"/>
          </a:xfrm>
          <a:prstGeom prst="ellipse">
            <a:avLst/>
          </a:prstGeom>
          <a:solidFill>
            <a:srgbClr val="315F48"/>
          </a:solidFill>
          <a:ln w="12700">
            <a:solidFill>
              <a:srgbClr val="315F4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143000" y="38130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4251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Requests with 422 field errors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91840" y="370332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E5ECE6"/>
          </a:solidFill>
          <a:ln w="12700">
            <a:solidFill>
              <a:srgbClr val="E5ECE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29000" y="3831336"/>
            <a:ext cx="384048" cy="384048"/>
          </a:xfrm>
          <a:prstGeom prst="ellipse">
            <a:avLst/>
          </a:prstGeom>
          <a:solidFill>
            <a:srgbClr val="315F48"/>
          </a:solidFill>
          <a:ln w="12700">
            <a:solidFill>
              <a:srgbClr val="315F4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42900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3886200" y="38130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feedback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3429000" y="4251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Loaders, toasts, empty states, confirm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035040" y="370332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E5ECE6"/>
          </a:solidFill>
          <a:ln w="12700">
            <a:solidFill>
              <a:srgbClr val="E5ECE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72200" y="3831336"/>
            <a:ext cx="384048" cy="384048"/>
          </a:xfrm>
          <a:prstGeom prst="ellipse">
            <a:avLst/>
          </a:prstGeom>
          <a:solidFill>
            <a:srgbClr val="315F48"/>
          </a:solidFill>
          <a:ln w="12700">
            <a:solidFill>
              <a:srgbClr val="315F4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17220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6629400" y="38130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workflow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6172200" y="4251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to Completed, cancel frees slot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4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Status Workflow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moves each order forward; students may cancel only while Pending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737360" cy="914400"/>
          </a:xfrm>
          <a:prstGeom prst="roundRect">
            <a:avLst>
              <a:gd name="adj" fmla="val 15000"/>
            </a:avLst>
          </a:prstGeom>
          <a:solidFill>
            <a:srgbClr val="315F48"/>
          </a:solidFill>
          <a:ln w="12700">
            <a:solidFill>
              <a:srgbClr val="315F4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331720" y="2148840"/>
            <a:ext cx="274320" cy="274320"/>
          </a:xfrm>
          <a:prstGeom prst="rightArrow">
            <a:avLst/>
          </a:prstGeom>
          <a:solidFill>
            <a:srgbClr val="5F6762"/>
          </a:solidFill>
          <a:ln w="12700">
            <a:solidFill>
              <a:srgbClr val="5F67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1760" y="1828800"/>
            <a:ext cx="1737360" cy="914400"/>
          </a:xfrm>
          <a:prstGeom prst="roundRect">
            <a:avLst>
              <a:gd name="adj" fmla="val 15000"/>
            </a:avLst>
          </a:prstGeom>
          <a:solidFill>
            <a:srgbClr val="315F48"/>
          </a:solidFill>
          <a:ln w="12700">
            <a:solidFill>
              <a:srgbClr val="315F4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651760" y="1828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434840" y="2148840"/>
            <a:ext cx="274320" cy="274320"/>
          </a:xfrm>
          <a:prstGeom prst="rightArrow">
            <a:avLst/>
          </a:prstGeom>
          <a:solidFill>
            <a:srgbClr val="5F6762"/>
          </a:solidFill>
          <a:ln w="12700">
            <a:solidFill>
              <a:srgbClr val="5F67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828800"/>
            <a:ext cx="1737360" cy="914400"/>
          </a:xfrm>
          <a:prstGeom prst="roundRect">
            <a:avLst>
              <a:gd name="adj" fmla="val 15000"/>
            </a:avLst>
          </a:prstGeom>
          <a:solidFill>
            <a:srgbClr val="315F48"/>
          </a:solidFill>
          <a:ln w="12700">
            <a:solidFill>
              <a:srgbClr val="315F4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754880" y="1828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37960" y="2148840"/>
            <a:ext cx="274320" cy="274320"/>
          </a:xfrm>
          <a:prstGeom prst="rightArrow">
            <a:avLst/>
          </a:prstGeom>
          <a:solidFill>
            <a:srgbClr val="5F6762"/>
          </a:solidFill>
          <a:ln w="12700">
            <a:solidFill>
              <a:srgbClr val="5F676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1828800"/>
            <a:ext cx="1737360" cy="914400"/>
          </a:xfrm>
          <a:prstGeom prst="roundRect">
            <a:avLst>
              <a:gd name="adj" fmla="val 15000"/>
            </a:avLst>
          </a:prstGeom>
          <a:solidFill>
            <a:srgbClr val="C9783E"/>
          </a:solidFill>
          <a:ln w="12700">
            <a:solidFill>
              <a:srgbClr val="C9783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858000" y="1828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8046720" cy="1188720"/>
          </a:xfrm>
          <a:prstGeom prst="roundRect">
            <a:avLst>
              <a:gd name="adj" fmla="val 9231"/>
            </a:avLst>
          </a:prstGeom>
          <a:solidFill>
            <a:srgbClr val="E5ECE6"/>
          </a:solidFill>
          <a:ln w="12700">
            <a:solidFill>
              <a:srgbClr val="E5EC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2918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rule  </a:t>
            </a:r>
            <a:pPr indent="0" marL="0">
              <a:buNone/>
            </a:pPr>
            <a:r>
              <a:rPr lang="en-US" sz="15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can cancel an order only while it is Pending. Cancelling releases the pickup slot's capacity so another student can use it.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4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React frontend consuming a Laravel REST API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15F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with Vite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Router, Axios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CSS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50876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7472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19456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11/12, PHP 8.2+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Sanctum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Requests, API Resources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middleware / policies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50876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15F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and Tools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19456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MariaDB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Migrations, factories, seeders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and GitHub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/ Thunder Client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goals: menu image uploads, dashboard charts, online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4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github.com/zzhypera/React_responsive-canteen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0200"/>
            <a:ext cx="1463040" cy="384048"/>
          </a:xfrm>
          <a:prstGeom prst="roundRect">
            <a:avLst>
              <a:gd name="adj" fmla="val 23810"/>
            </a:avLst>
          </a:prstGeom>
          <a:solidFill>
            <a:srgbClr val="315F48"/>
          </a:solidFill>
          <a:ln w="12700">
            <a:solidFill>
              <a:srgbClr val="315F4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002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responsive UI: home, menu, cart, checkout, orders, admin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and register wired to the Laravel API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migrations for all canteen tables and a seeder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Sanctum auth and 20+ API endpoints (public, student, admin)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capacity checked in a database transaction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600200"/>
            <a:ext cx="1463040" cy="384048"/>
          </a:xfrm>
          <a:prstGeom prst="roundRect">
            <a:avLst>
              <a:gd name="adj" fmla="val 23810"/>
            </a:avLst>
          </a:prstGeom>
          <a:solidFill>
            <a:srgbClr val="C9783E"/>
          </a:solidFill>
          <a:ln w="12700">
            <a:solidFill>
              <a:srgbClr val="C9783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6002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14884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menu, cart and orders to the API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snake_case API fields to the UI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403 and 422 errors in the forms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roles, cancellation and status flow in Postman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8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demo admin and student accounts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4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114800" cy="4114800"/>
          </a:xfrm>
          <a:prstGeom prst="ellipse">
            <a:avLst/>
          </a:prstGeom>
          <a:solidFill>
            <a:srgbClr val="315F48"/>
          </a:solidFill>
          <a:ln w="12700">
            <a:solidFill>
              <a:srgbClr val="315F4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7315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original and feasible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94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a real canteen workflow, not a generic shopping cart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Pickup-slot capacity limits, sold-out controls and order tracking set it apart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project completed within the two-week mini-capstone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tested step by step through the API and the React interface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E1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Submitted by Clarke David Murcia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Canteen Ordering System</dc:title>
  <dc:subject>PptxGenJS Presentation</dc:subject>
  <dc:creator>Clarke David Murcia</dc:creator>
  <cp:lastModifiedBy>Clarke David Murcia</cp:lastModifiedBy>
  <cp:revision>1</cp:revision>
  <dcterms:created xsi:type="dcterms:W3CDTF">2026-10-19T13:32:43Z</dcterms:created>
  <dcterms:modified xsi:type="dcterms:W3CDTF">2026-10-19T13:32:43Z</dcterms:modified>
</cp:coreProperties>
</file>